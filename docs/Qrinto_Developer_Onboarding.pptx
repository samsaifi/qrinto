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2" r:id="rId6"/>
    <p:sldId id="296" r:id="rId7"/>
    <p:sldId id="295" r:id="rId8"/>
    <p:sldId id="263" r:id="rId9"/>
    <p:sldId id="264" r:id="rId10"/>
    <p:sldId id="297" r:id="rId11"/>
    <p:sldId id="29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99" r:id="rId22"/>
    <p:sldId id="306" r:id="rId23"/>
    <p:sldId id="301" r:id="rId24"/>
    <p:sldId id="303" r:id="rId25"/>
    <p:sldId id="300" r:id="rId26"/>
    <p:sldId id="302" r:id="rId27"/>
    <p:sldId id="304" r:id="rId28"/>
    <p:sldId id="307" r:id="rId29"/>
    <p:sldId id="274" r:id="rId30"/>
    <p:sldId id="275" r:id="rId31"/>
    <p:sldId id="276" r:id="rId32"/>
    <p:sldId id="277" r:id="rId33"/>
    <p:sldId id="284" r:id="rId34"/>
    <p:sldId id="285" r:id="rId35"/>
    <p:sldId id="308" r:id="rId36"/>
    <p:sldId id="29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899" autoAdjust="0"/>
  </p:normalViewPr>
  <p:slideViewPr>
    <p:cSldViewPr snapToGrid="0" snapToObjects="1">
      <p:cViewPr varScale="1">
        <p:scale>
          <a:sx n="106" d="100"/>
          <a:sy n="106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877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00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38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66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8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05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654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1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350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66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41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98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22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ritsu.com/931bl-resource-center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qrinto.com/login" TargetMode="External"/><Relationship Id="rId5" Type="http://schemas.openxmlformats.org/officeDocument/2006/relationships/hyperlink" Target="https://qrinto.com/pc/" TargetMode="External"/><Relationship Id="rId4" Type="http://schemas.openxmlformats.org/officeDocument/2006/relationships/hyperlink" Target="https://qrinto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hyperlink" Target="https://qrinto.com/admin/coupons" TargetMode="External"/><Relationship Id="rId18" Type="http://schemas.openxmlformats.org/officeDocument/2006/relationships/hyperlink" Target="https://qrinto.com/admin/paper-types" TargetMode="External"/><Relationship Id="rId3" Type="http://schemas.openxmlformats.org/officeDocument/2006/relationships/hyperlink" Target="https://qrinto.com/admin" TargetMode="External"/><Relationship Id="rId7" Type="http://schemas.openxmlformats.org/officeDocument/2006/relationships/hyperlink" Target="https://qrinto.com/admin/products" TargetMode="External"/><Relationship Id="rId12" Type="http://schemas.openxmlformats.org/officeDocument/2006/relationships/hyperlink" Target="https://qrinto.com/admin/templates" TargetMode="Externa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.png"/><Relationship Id="rId20" Type="http://schemas.openxmlformats.org/officeDocument/2006/relationships/hyperlink" Target="https://qrinto.com/admin/user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qrinto.com/admin/orders" TargetMode="External"/><Relationship Id="rId11" Type="http://schemas.openxmlformats.org/officeDocument/2006/relationships/hyperlink" Target="https://qrinto.com/admin/product-types" TargetMode="External"/><Relationship Id="rId5" Type="http://schemas.openxmlformats.org/officeDocument/2006/relationships/image" Target="../media/image14.png"/><Relationship Id="rId15" Type="http://schemas.openxmlformats.org/officeDocument/2006/relationships/image" Target="../media/image17.png"/><Relationship Id="rId10" Type="http://schemas.openxmlformats.org/officeDocument/2006/relationships/hyperlink" Target="https://qrinto.com/admin/events" TargetMode="External"/><Relationship Id="rId19" Type="http://schemas.openxmlformats.org/officeDocument/2006/relationships/hyperlink" Target="https://qrinto.com/admin/stores" TargetMode="External"/><Relationship Id="rId4" Type="http://schemas.openxmlformats.org/officeDocument/2006/relationships/image" Target="../media/image13.png"/><Relationship Id="rId9" Type="http://schemas.openxmlformats.org/officeDocument/2006/relationships/hyperlink" Target="https://qrinto.com/admin/categories" TargetMode="External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rinto.com/logi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QRINTO PRINT STUDIO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04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Store panel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Platform Guide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7600" y="33883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277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August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26" name="Picture 2" descr="Qrinto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375" y="1573770"/>
            <a:ext cx="3178816" cy="12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7220" y="16004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17220" y="1618740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58661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" y="20576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" y="2075940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734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URLs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" y="25148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" y="2533140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" y="25239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Access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" y="29720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" y="2990340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" y="29458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" y="34292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" y="3447540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4420" y="34475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23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0952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2480" y="1581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Portal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43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06672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0768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50563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523924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2480" y="253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Website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903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2168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62480" y="2874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Center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3606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37888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836088"/>
            <a:ext cx="320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14900" y="1923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1208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12080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Qrinto Print Studio?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Qrinto?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Photo Printing &amp; Personalized Product E-Commerce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9280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Products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cards, magnets, custom prints with photo customization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4436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physical store locations with individual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959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Kiosk Ordering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scan store QR code to begin in-store ordering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8745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9280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Multi-Payment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PayPal,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counter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4436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Noritsu</a:t>
            </a:r>
            <a:r>
              <a:rPr lang="en-US" sz="14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931-bl and </a:t>
            </a:r>
            <a:r>
              <a:rPr lang="en-US" sz="14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Qrinto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Resources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hlinkClick r:id="rId3" tooltip="https://www.noritsu.com/931bl-resource-center.html"/>
              </a:rPr>
              <a:t>https</a:t>
            </a:r>
            <a:r>
              <a:rPr lang="en-US" sz="1100" dirty="0">
                <a:hlinkClick r:id="rId3" tooltip="https://www.noritsu.com/931bl-resource-center.html"/>
              </a:rPr>
              <a:t>://www.noritsu.com/931bl-resource-center.html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9776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9959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and CAD with automatic conversion by store location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Customer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selected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81912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581912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267712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399032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99032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0904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660904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46704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478024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78024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variant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9896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425696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557016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7016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18888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504688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636008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36008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83680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71500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or cash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76872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976872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662672" y="1783080"/>
            <a:ext cx="3657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793992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93992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55864" y="14630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8055864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872984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72984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pickup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Lifecycle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36576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65960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2286000" y="36576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03320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023360" y="36576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60720" y="36576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8B5CF6"/>
          </a:solidFill>
          <a:ln/>
        </p:spPr>
      </p:sp>
      <p:sp>
        <p:nvSpPr>
          <p:cNvPr id="54" name="Text 52"/>
          <p:cNvSpPr/>
          <p:nvPr/>
        </p:nvSpPr>
        <p:spPr>
          <a:xfrm>
            <a:off x="576072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78040" y="3703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498080" y="365760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49808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Cancelled  |  Refunded (from any status)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04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Customer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1960" y="10515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83196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42032" y="10515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42032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92184" y="10058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184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78040" y="9601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9808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6067"/>
            <a:ext cx="2052000" cy="33774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312" y="1811787"/>
            <a:ext cx="1848160" cy="2976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312" y="1811787"/>
            <a:ext cx="1908650" cy="30816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723" y="1816365"/>
            <a:ext cx="2038277" cy="332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30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Customer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1960" y="10515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83196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14832" y="10058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14832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92184" y="10058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184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78040" y="9601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98080" y="3657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80" y="1836000"/>
            <a:ext cx="1901640" cy="3105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584" y="1836000"/>
            <a:ext cx="1937400" cy="3185100"/>
          </a:xfrm>
          <a:prstGeom prst="rect">
            <a:avLst/>
          </a:prstGeom>
        </p:spPr>
      </p:pic>
      <p:pic>
        <p:nvPicPr>
          <p:cNvPr id="3074" name="Picture 2" descr="C:\Users\sadda\Downloads\image (8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748" y="1833840"/>
            <a:ext cx="1988196" cy="322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119" y="1833840"/>
            <a:ext cx="1936241" cy="313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3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URLs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API, and External Service endpoints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URLs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8229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(Mobile)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444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444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Flow mobile 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(Desktop)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/pc/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PC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12848"/>
            <a:ext cx="8229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212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/find-store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2128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Geolocation-based store finder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5968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5968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80944"/>
            <a:ext cx="8229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2980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980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by order number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6499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64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/custom-print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364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upload printing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3749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749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133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224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QR Entry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3920" y="4133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/store/{code}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32800" y="4133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entry point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API URLs</a:t>
            </a:r>
            <a:endParaRPr lang="en-US" sz="2400" dirty="0"/>
          </a:p>
        </p:txBody>
      </p:sp>
      <p:sp>
        <p:nvSpPr>
          <p:cNvPr id="44" name="Rectangle 43"/>
          <p:cNvSpPr/>
          <p:nvPr/>
        </p:nvSpPr>
        <p:spPr>
          <a:xfrm>
            <a:off x="335555" y="1083884"/>
            <a:ext cx="19784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(Mobile)</a:t>
            </a:r>
            <a:endParaRPr lang="en-US" dirty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55" y="1822548"/>
            <a:ext cx="1601481" cy="26595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35555" y="1453216"/>
            <a:ext cx="10102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hlinkClick r:id="rId4"/>
              </a:rPr>
              <a:t>https://qrinto.com/</a:t>
            </a:r>
            <a:endParaRPr lang="en-US" sz="800" dirty="0"/>
          </a:p>
        </p:txBody>
      </p:sp>
      <p:sp>
        <p:nvSpPr>
          <p:cNvPr id="48" name="TextBox 47"/>
          <p:cNvSpPr txBox="1"/>
          <p:nvPr/>
        </p:nvSpPr>
        <p:spPr>
          <a:xfrm>
            <a:off x="2371582" y="1453216"/>
            <a:ext cx="11480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hlinkClick r:id="rId5"/>
              </a:rPr>
              <a:t>https://</a:t>
            </a:r>
            <a:r>
              <a:rPr lang="en-US" sz="800" dirty="0" smtClean="0">
                <a:hlinkClick r:id="rId5"/>
              </a:rPr>
              <a:t>qrinto.com/pc/</a:t>
            </a:r>
            <a:endParaRPr lang="en-US" sz="800" dirty="0"/>
          </a:p>
        </p:txBody>
      </p:sp>
      <p:sp>
        <p:nvSpPr>
          <p:cNvPr id="49" name="Rectangle 48"/>
          <p:cNvSpPr/>
          <p:nvPr/>
        </p:nvSpPr>
        <p:spPr>
          <a:xfrm>
            <a:off x="2313982" y="1099273"/>
            <a:ext cx="2088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(Desktop)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5206122" y="1453216"/>
            <a:ext cx="1215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hlinkClick r:id="rId6"/>
              </a:rPr>
              <a:t>https://qrinto.com/login</a:t>
            </a:r>
            <a:endParaRPr lang="en-US" sz="800" dirty="0"/>
          </a:p>
        </p:txBody>
      </p:sp>
      <p:sp>
        <p:nvSpPr>
          <p:cNvPr id="52" name="Rectangle 51"/>
          <p:cNvSpPr/>
          <p:nvPr/>
        </p:nvSpPr>
        <p:spPr>
          <a:xfrm>
            <a:off x="5206122" y="1116001"/>
            <a:ext cx="2933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Store panel Login</a:t>
            </a:r>
            <a:endParaRPr lang="en-US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3316" y="2022603"/>
            <a:ext cx="2810353" cy="141324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1582" y="2022603"/>
            <a:ext cx="2632418" cy="127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URLs</a:t>
            </a:r>
            <a:endParaRPr lang="en-US" sz="2400" dirty="0"/>
          </a:p>
        </p:txBody>
      </p:sp>
      <p:sp>
        <p:nvSpPr>
          <p:cNvPr id="44" name="Rectangle 43"/>
          <p:cNvSpPr/>
          <p:nvPr/>
        </p:nvSpPr>
        <p:spPr>
          <a:xfrm>
            <a:off x="137711" y="822341"/>
            <a:ext cx="1927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dirty="0" smtClean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9459" y="1145507"/>
            <a:ext cx="1385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https://qrinto.com/admin</a:t>
            </a:r>
            <a:endParaRPr lang="en-US" sz="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7" y="1369093"/>
            <a:ext cx="2018631" cy="97505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410259" y="817048"/>
            <a:ext cx="2047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 Panel</a:t>
            </a:r>
            <a:endParaRPr lang="en-US" dirty="0" smtClean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10259" y="1145507"/>
            <a:ext cx="1385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https://qrinto.com/admin</a:t>
            </a:r>
            <a:endParaRPr lang="en-US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7955" y="1360951"/>
            <a:ext cx="2018133" cy="103037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86833" y="822341"/>
            <a:ext cx="1927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page</a:t>
            </a:r>
            <a:endParaRPr lang="en-US" dirty="0" smtClean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68580" y="1145507"/>
            <a:ext cx="16579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6"/>
              </a:rPr>
              <a:t>https://qrinto.com/admin/orders</a:t>
            </a:r>
            <a:endParaRPr lang="en-US" sz="800" dirty="0"/>
          </a:p>
        </p:txBody>
      </p:sp>
      <p:sp>
        <p:nvSpPr>
          <p:cNvPr id="21" name="Rectangle 20"/>
          <p:cNvSpPr/>
          <p:nvPr/>
        </p:nvSpPr>
        <p:spPr>
          <a:xfrm>
            <a:off x="6859381" y="817048"/>
            <a:ext cx="1927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9380" y="1145507"/>
            <a:ext cx="17980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7"/>
              </a:rPr>
              <a:t>https://qrinto.com/admin/products</a:t>
            </a:r>
            <a:endParaRPr lang="en-US" sz="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077" y="1360951"/>
            <a:ext cx="2018133" cy="10303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636" y="1386081"/>
            <a:ext cx="1936800" cy="98011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97087" y="2520676"/>
            <a:ext cx="1837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</a:t>
            </a:r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dirty="0" smtClean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6365" y="2818097"/>
            <a:ext cx="17792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9"/>
              </a:rPr>
              <a:t>https://qrinto.com/admin/categories</a:t>
            </a:r>
            <a:endParaRPr lang="en-US" sz="800" dirty="0"/>
          </a:p>
        </p:txBody>
      </p:sp>
      <p:sp>
        <p:nvSpPr>
          <p:cNvPr id="34" name="Rectangle 33"/>
          <p:cNvSpPr/>
          <p:nvPr/>
        </p:nvSpPr>
        <p:spPr>
          <a:xfrm>
            <a:off x="163570" y="4257386"/>
            <a:ext cx="1837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Events</a:t>
            </a:r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</a:t>
            </a:r>
            <a:endParaRPr lang="en-US" dirty="0" smtClean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8834" y="4533341"/>
            <a:ext cx="1580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hlinkClick r:id="rId10"/>
              </a:rPr>
              <a:t>https://qrinto.com/admin/events</a:t>
            </a:r>
            <a:endParaRPr lang="en-US" sz="800" dirty="0"/>
          </a:p>
        </p:txBody>
      </p:sp>
      <p:sp>
        <p:nvSpPr>
          <p:cNvPr id="37" name="Rectangle 36"/>
          <p:cNvSpPr/>
          <p:nvPr/>
        </p:nvSpPr>
        <p:spPr>
          <a:xfrm>
            <a:off x="2391923" y="2603268"/>
            <a:ext cx="18377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 &amp; Sizes</a:t>
            </a:r>
            <a:endParaRPr lang="en-US" sz="1400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73670" y="2926433"/>
            <a:ext cx="1894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11"/>
              </a:rPr>
              <a:t>https://qrinto.com/admin/product-types</a:t>
            </a:r>
            <a:endParaRPr lang="en-US" sz="800" dirty="0"/>
          </a:p>
        </p:txBody>
      </p:sp>
      <p:sp>
        <p:nvSpPr>
          <p:cNvPr id="40" name="Rectangle 39"/>
          <p:cNvSpPr/>
          <p:nvPr/>
        </p:nvSpPr>
        <p:spPr>
          <a:xfrm>
            <a:off x="4571930" y="2603268"/>
            <a:ext cx="18377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Design Templates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53677" y="2926433"/>
            <a:ext cx="1803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12"/>
              </a:rPr>
              <a:t>https://qrinto.com/admin/templates</a:t>
            </a:r>
            <a:endParaRPr lang="en-US" sz="800" dirty="0"/>
          </a:p>
        </p:txBody>
      </p:sp>
      <p:sp>
        <p:nvSpPr>
          <p:cNvPr id="43" name="Rectangle 42"/>
          <p:cNvSpPr/>
          <p:nvPr/>
        </p:nvSpPr>
        <p:spPr>
          <a:xfrm>
            <a:off x="6787174" y="2603268"/>
            <a:ext cx="1837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Coupons page</a:t>
            </a:r>
            <a:endParaRPr lang="en-US" b="1" dirty="0"/>
          </a:p>
          <a:p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68921" y="2926433"/>
            <a:ext cx="16838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13"/>
              </a:rPr>
              <a:t>https://qrinto.com/admin/coupons</a:t>
            </a:r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054" y="3104135"/>
            <a:ext cx="1757249" cy="8846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18050" y="3167007"/>
            <a:ext cx="1955993" cy="8813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6833" y="3226056"/>
            <a:ext cx="2106133" cy="8439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9381" y="3198515"/>
            <a:ext cx="1927377" cy="982367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127936" y="4265760"/>
            <a:ext cx="1837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Paper </a:t>
            </a:r>
            <a:r>
              <a:rPr lang="en-US" b="1" dirty="0" smtClean="0"/>
              <a:t>Types</a:t>
            </a:r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143200" y="4541715"/>
            <a:ext cx="19187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18"/>
              </a:rPr>
              <a:t>https://qrinto.com/admin/paper-types</a:t>
            </a:r>
            <a:endParaRPr lang="en-US" sz="800" dirty="0"/>
          </a:p>
        </p:txBody>
      </p:sp>
      <p:sp>
        <p:nvSpPr>
          <p:cNvPr id="59" name="Rectangle 58"/>
          <p:cNvSpPr/>
          <p:nvPr/>
        </p:nvSpPr>
        <p:spPr>
          <a:xfrm>
            <a:off x="4445060" y="4286204"/>
            <a:ext cx="2091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Store Management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2819" y="4562159"/>
            <a:ext cx="1580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19"/>
              </a:rPr>
              <a:t>https://qrinto.com/admin/stores</a:t>
            </a:r>
            <a:endParaRPr lang="en-US" sz="800" dirty="0"/>
          </a:p>
        </p:txBody>
      </p:sp>
      <p:sp>
        <p:nvSpPr>
          <p:cNvPr id="61" name="Rectangle 60"/>
          <p:cNvSpPr/>
          <p:nvPr/>
        </p:nvSpPr>
        <p:spPr>
          <a:xfrm>
            <a:off x="6787174" y="4257386"/>
            <a:ext cx="1837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Users Manage</a:t>
            </a:r>
            <a:endParaRPr lang="en-US" b="1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11200" y="4539082"/>
            <a:ext cx="1580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20"/>
              </a:rPr>
              <a:t>https://qrinto.com/admin/users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2047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Access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 and session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Login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79296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1" y="1554480"/>
            <a:ext cx="16147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visits /login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79296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1" y="2057400"/>
            <a:ext cx="16147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Submits email + password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79296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1" y="2560320"/>
            <a:ext cx="16147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access all modules assign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79296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1" y="3063240"/>
            <a:ext cx="16147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792960" cy="411480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1" y="3566160"/>
            <a:ext cx="16147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Redirect: admin → /admin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/my-account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566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Cart merged, logged 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804672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Registration and Password Reset routes are currently DISABLED (commented out in routes/auth.php). Customers are created via Social Login only. Session driver: database. Store selection stored in session as active_store_id.</a:t>
            </a:r>
            <a:endParaRPr lang="en-US" sz="1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61" y="1519920"/>
            <a:ext cx="4162319" cy="2353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13961" y="1193958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https://qrinto.com/login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 roles with different access levels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Levels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52728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7101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unrestricted access to all stores, products, orders, users, and settings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2801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2128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3113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their assigned store only: orders, products, categories, coupons,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22402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store modules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9125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read access. Can enter admin panel (canAccessAdmin = true)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320040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51376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user: browse products, design custom prints, place and track orders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16052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only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 Methods (User </a:t>
            </a:r>
            <a:r>
              <a:rPr lang="en-US" sz="11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base)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across all stores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Portal: Dashboard &amp; Orders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all stores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&amp; status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summary reports (JSON + CSV export)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statistics with entity counts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across all stores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payment, 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&amp; payment 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Generate/view print-ready PDFs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print jobs to store printers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 triggers customer email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Admin Modules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4813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7099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+ masks + options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2029968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0482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2768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hierarchy CRUD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596896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8437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sizes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3163824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4107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or fixed, global scope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3730752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49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with categories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12280" y="146304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4813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Types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17099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Store-linked configs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2029968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04825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2768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printer + FTP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2596896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28437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toggle, view details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3163824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34107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template CRUD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3730752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3749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Qrinto Sizes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977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print sizes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Portal: Catalog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prices (USD + CAD), SKU, tags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frame, sample, background, overlay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no_of_pages: 1 (flat), 2 </a:t>
            </a:r>
            <a:r>
              <a:rPr lang="en-US" sz="9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(double),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(folded)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editor for photo placement zones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delete support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 (Hierarchy)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417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Cards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783080"/>
            <a:ext cx="0" cy="2286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011680"/>
            <a:ext cx="457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874520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3.5x5 - $4.99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78308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377440"/>
            <a:ext cx="457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240280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5x7 - $6.99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783080"/>
            <a:ext cx="0" cy="960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743200"/>
            <a:ext cx="457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606040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7x10 - $8.99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tree hierarchy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959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description, SEO metadata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Cascade-deletes products on removal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or fixed discount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959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order, max discount, usage limits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(start/expiry)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471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restrict to specific stores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Portal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 to own store resources only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Portal: Scoped Access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0038" y="90549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32918" y="93292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Administrators can ONLY access and manage resources belonging to their own store. They cannot view, edit, or delete data from other stores.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7186" y="1440180"/>
            <a:ext cx="3681360" cy="8458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584346" y="148590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1506" y="176022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store orders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1506" y="194310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&amp; payment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1506" y="212598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duplicate / PDF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7186" y="2343150"/>
            <a:ext cx="3681360" cy="8458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84346" y="238887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1506" y="266319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own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1506" y="284607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editor for own products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1506" y="302895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generation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7186" y="3235680"/>
            <a:ext cx="368136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84346" y="328140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1506" y="355572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1506" y="373860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user_id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89024" y="1458360"/>
            <a:ext cx="368136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426184" y="150408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63344" y="177840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own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63344" y="196128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user_id / store_id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89024" y="2217420"/>
            <a:ext cx="368136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426184" y="226314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63344" y="253746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own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63344" y="272034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own store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89024" y="3017520"/>
            <a:ext cx="3681360" cy="726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414525" y="306324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Details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51685" y="333756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store info &amp; logo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51685" y="352044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printer &amp; FTP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 CANNOT: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Create/delete stores  |  Manage users  |  Manage product types  |  Access other stores' data  |  Export cross-store reports  |  Manage global sizes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258850" y="3840480"/>
            <a:ext cx="3681360" cy="726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35" name="Text 27"/>
          <p:cNvSpPr/>
          <p:nvPr/>
        </p:nvSpPr>
        <p:spPr>
          <a:xfrm>
            <a:off x="4384351" y="388620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Details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521511" y="416052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Customers scan this code in-store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521511" y="434340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Stats</a:t>
            </a:r>
            <a:endParaRPr lang="en-US" sz="900" dirty="0"/>
          </a:p>
        </p:txBody>
      </p:sp>
      <p:sp>
        <p:nvSpPr>
          <p:cNvPr id="38" name="Shape 14"/>
          <p:cNvSpPr/>
          <p:nvPr/>
        </p:nvSpPr>
        <p:spPr>
          <a:xfrm>
            <a:off x="485744" y="3949020"/>
            <a:ext cx="3681360" cy="7601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/>
        </p:spPr>
      </p:sp>
      <p:sp>
        <p:nvSpPr>
          <p:cNvPr id="39" name="Text 15"/>
          <p:cNvSpPr/>
          <p:nvPr/>
        </p:nvSpPr>
        <p:spPr>
          <a:xfrm>
            <a:off x="622904" y="3994740"/>
            <a:ext cx="34303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Type</a:t>
            </a:r>
            <a:endParaRPr lang="en-US" sz="1300" dirty="0"/>
          </a:p>
        </p:txBody>
      </p:sp>
      <p:sp>
        <p:nvSpPr>
          <p:cNvPr id="40" name="Text 16"/>
          <p:cNvSpPr/>
          <p:nvPr/>
        </p:nvSpPr>
        <p:spPr>
          <a:xfrm>
            <a:off x="760064" y="426906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own</a:t>
            </a:r>
            <a:endParaRPr lang="en-US" sz="900" dirty="0"/>
          </a:p>
        </p:txBody>
      </p:sp>
      <p:sp>
        <p:nvSpPr>
          <p:cNvPr id="41" name="Text 17"/>
          <p:cNvSpPr/>
          <p:nvPr/>
        </p:nvSpPr>
        <p:spPr>
          <a:xfrm>
            <a:off x="760064" y="4451940"/>
            <a:ext cx="3263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user_id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405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6" y="1907999"/>
            <a:ext cx="4619124" cy="22495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" y="1907999"/>
            <a:ext cx="4404026" cy="20411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8400" y="1303200"/>
            <a:ext cx="139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 Panel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524876" y="1329466"/>
            <a:ext cx="127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Store Panel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8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9" y="1370339"/>
            <a:ext cx="2615613" cy="1128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00" y="981720"/>
            <a:ext cx="110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Orders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000" y="1310018"/>
            <a:ext cx="2570400" cy="11512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65999" y="940686"/>
            <a:ext cx="1421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Order Details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190" y="1354824"/>
            <a:ext cx="2102133" cy="22871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17190" y="985492"/>
            <a:ext cx="1426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Accept Order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9" y="2948345"/>
            <a:ext cx="2750967" cy="11859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3599" y="2579013"/>
            <a:ext cx="1562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Download PDF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00" y="4414807"/>
            <a:ext cx="2238883" cy="72869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5440" y="4062488"/>
            <a:ext cx="13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Print Design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239" y="2893279"/>
            <a:ext cx="1789562" cy="210014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25481" y="2594826"/>
            <a:ext cx="148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Update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386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9" y="1393222"/>
            <a:ext cx="3420001" cy="15459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00" y="981720"/>
            <a:ext cx="13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Products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801" y="1409490"/>
            <a:ext cx="3355200" cy="1525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5200" y="931559"/>
            <a:ext cx="158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Create Product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99" y="3484808"/>
            <a:ext cx="3420001" cy="1553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047" y="3052646"/>
            <a:ext cx="249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Update Marking Product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75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411200"/>
            <a:ext cx="3995843" cy="1838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981720"/>
            <a:ext cx="1465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Categories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695" y="1411200"/>
            <a:ext cx="3360803" cy="2596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0410" y="981720"/>
            <a:ext cx="170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</a:t>
            </a:r>
            <a:r>
              <a:rPr lang="en-US" b="1" dirty="0" smtClean="0"/>
              <a:t>Category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5060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r>
              <a:rPr lang="en-US" sz="2400" b="1" dirty="0" smtClean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0" y="1900800"/>
            <a:ext cx="4205494" cy="1884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0400" y="124346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All Coupons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12800"/>
            <a:ext cx="4332222" cy="29571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186948"/>
            <a:ext cx="159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Create </a:t>
            </a:r>
            <a:r>
              <a:rPr lang="en-US" b="1" dirty="0" smtClean="0"/>
              <a:t>Coupon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1852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00" y="1965872"/>
            <a:ext cx="3794400" cy="17162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400" y="1488665"/>
            <a:ext cx="227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F172A"/>
                </a:solidFill>
                <a:latin typeface="Outfit"/>
              </a:rPr>
              <a:t>All Events</a:t>
            </a:r>
            <a:endParaRPr lang="en-US" b="1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499" y="1965872"/>
            <a:ext cx="3882501" cy="27278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39200" y="1488665"/>
            <a:ext cx="1595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Outfit"/>
              </a:rPr>
              <a:t>Create Event</a:t>
            </a:r>
            <a:endParaRPr lang="en-US" b="1" i="0" dirty="0">
              <a:solidFill>
                <a:srgbClr val="0F172A"/>
              </a:solidFill>
              <a:effectLst/>
              <a:latin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3579807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00B050"/>
                </a:solidFill>
                <a:latin typeface="Outfit"/>
              </a:rPr>
              <a:t>Paper </a:t>
            </a:r>
            <a:r>
              <a:rPr lang="en-US" sz="2400" b="1" dirty="0">
                <a:solidFill>
                  <a:srgbClr val="00B050"/>
                </a:solidFill>
                <a:latin typeface="Outfit"/>
              </a:rPr>
              <a:t>Type</a:t>
            </a:r>
            <a:r>
              <a:rPr lang="en-US" sz="2400" b="1" dirty="0" smtClean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0" y="1533600"/>
            <a:ext cx="3804242" cy="1705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400" y="1164268"/>
            <a:ext cx="206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F172A"/>
                </a:solidFill>
                <a:latin typeface="Outfit"/>
              </a:rPr>
              <a:t>All Paper Types</a:t>
            </a:r>
            <a:endParaRPr lang="en-US" b="1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883" y="1559259"/>
            <a:ext cx="3775341" cy="16910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64883" y="1237433"/>
            <a:ext cx="2193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  <a:latin typeface="Outfit"/>
              </a:rPr>
              <a:t>Create Paper Type</a:t>
            </a:r>
            <a:endParaRPr lang="en-US" b="1" i="0" dirty="0">
              <a:solidFill>
                <a:srgbClr val="0F172A"/>
              </a:solidFill>
              <a:effectLst/>
              <a:latin typeface="Outfit"/>
            </a:endParaRPr>
          </a:p>
        </p:txBody>
      </p:sp>
    </p:spTree>
    <p:extLst>
      <p:ext uri="{BB962C8B-B14F-4D97-AF65-F5344CB8AC3E}">
        <p14:creationId xmlns:p14="http://schemas.microsoft.com/office/powerpoint/2010/main" val="5594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smtClean="0">
                <a:solidFill>
                  <a:srgbClr val="00B050"/>
                </a:solidFill>
                <a:latin typeface="Outfit"/>
              </a:rPr>
              <a:t>Paper </a:t>
            </a:r>
            <a:r>
              <a:rPr lang="en-US" sz="2400" b="1" dirty="0">
                <a:solidFill>
                  <a:srgbClr val="00B050"/>
                </a:solidFill>
                <a:latin typeface="Outfit"/>
              </a:rPr>
              <a:t>Type</a:t>
            </a:r>
            <a:r>
              <a:rPr lang="en-US" sz="2400" b="1" dirty="0" smtClean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Access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04400" y="1164268"/>
            <a:ext cx="232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F172A"/>
                </a:solidFill>
                <a:latin typeface="Outfit"/>
              </a:rPr>
              <a:t>All </a:t>
            </a:r>
            <a:r>
              <a:rPr lang="en-US" b="1" dirty="0" smtClean="0"/>
              <a:t>Design Templates</a:t>
            </a:r>
            <a:endParaRPr lang="en-US" b="1" dirty="0"/>
          </a:p>
          <a:p>
            <a:endParaRPr lang="en-US" b="1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4883" y="123743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i="0" dirty="0">
              <a:effectLst/>
              <a:latin typeface="Outfi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0" y="1606765"/>
            <a:ext cx="3906000" cy="1719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883" y="1677360"/>
            <a:ext cx="3850317" cy="175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48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Store Admin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Matrix: Admin vs Store Admin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stores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353312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1353312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68196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6819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store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568196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568196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78308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delete stores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783080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997964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99796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products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97964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1997964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12848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21284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products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212848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212848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27732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42773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categories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427732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2427732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642616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264261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categories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642616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642616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857500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285750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coupons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2857500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2857500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072384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07238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coupons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072384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072384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287268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28726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events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3287268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3287268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502152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350215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events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502152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3502152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717036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71703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paper types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6320" y="3717036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75120" y="3717036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3931920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393192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own paper types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3931920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3931920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146804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414680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46320" y="4146804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75120" y="4146804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361688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436168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4361688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75120" y="4361688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576572"/>
            <a:ext cx="8229600" cy="2148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457657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settings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846320" y="4576572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75120" y="4576572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4791456"/>
            <a:ext cx="8229600" cy="2148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" y="479145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types CRUD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46320" y="4791456"/>
            <a:ext cx="1828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675120" y="4791456"/>
            <a:ext cx="20116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Website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desktop customer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Website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(300mi radius), text search via OpenStreetMap, QR code scan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42316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4144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type → size → browse templates filtered by category and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7588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editor (Fabric.js), mask zones, photo upload, 30 fonts, 3 page modes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5156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18872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0700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cart, guest + auth, quantity adjust, coupon codes, cart merging on login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4231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4144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Single-item or cart checkout. PayPal, cash at counter. Name, email, phone, instructions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65760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67588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by order number: status timeline, product details, store pickup info, design preview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406908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548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Flow: /  (QuickFlowController)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4754880"/>
            <a:ext cx="397764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Flow: /pc/  (QuickFlowPcController)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097280"/>
            <a:ext cx="1645920" cy="1645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749040" y="1234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QrintoPrintAgent and Noritsu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System: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Order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Noritsu 931-BL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178845" y="2215468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Store </a:t>
            </a: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680" y="2708297"/>
            <a:ext cx="3471120" cy="156136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63540" y="2316664"/>
            <a:ext cx="1422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Access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685996"/>
            <a:ext cx="3606480" cy="15690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System: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Admin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Order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Noritsu 931-BL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234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10972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0972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536315" y="22154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680" y="2708297"/>
            <a:ext cx="4014638" cy="18058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01792" y="2344429"/>
            <a:ext cx="1624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file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04697"/>
            <a:ext cx="4014255" cy="180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63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placed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OrderConfirmationMail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placed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AdminOrderAlertMail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 placed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StoreOrderAlertMail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Flow order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QuickFlowOrderMail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Admin + 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OrderStatusUpdateMail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 created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StoreUserWelcomeMail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store user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QuickFlowOrderMail attaches the print-ready PDF design to the email. All templates are in resources/views/emails/.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1458</Words>
  <Application>Microsoft Office PowerPoint</Application>
  <PresentationFormat>On-screen Show (16:9)</PresentationFormat>
  <Paragraphs>503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Qrinto Print Studio - Developer Onboarding</dc:title>
  <dc:subject>PptxGenJS Presentation</dc:subject>
  <dc:creator>Qrinto Team</dc:creator>
  <cp:lastModifiedBy>sam saifi</cp:lastModifiedBy>
  <cp:revision>18</cp:revision>
  <dcterms:created xsi:type="dcterms:W3CDTF">2026-08-03T14:52:19Z</dcterms:created>
  <dcterms:modified xsi:type="dcterms:W3CDTF">2026-08-03T20:02:14Z</dcterms:modified>
</cp:coreProperties>
</file>